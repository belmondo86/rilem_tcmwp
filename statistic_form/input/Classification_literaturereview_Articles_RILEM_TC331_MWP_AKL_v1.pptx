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7" r:id="rId2"/>
    <p:sldId id="268" r:id="rId3"/>
    <p:sldId id="26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7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200"/>
    <a:srgbClr val="0000FF"/>
    <a:srgbClr val="EAEAEA"/>
    <a:srgbClr val="663300"/>
    <a:srgbClr val="996633"/>
    <a:srgbClr val="E321BE"/>
    <a:srgbClr val="6B6A6A"/>
    <a:srgbClr val="D1A3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384" y="48"/>
      </p:cViewPr>
      <p:guideLst>
        <p:guide orient="horz" pos="2160"/>
        <p:guide pos="3840"/>
        <p:guide pos="275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ol Lemos" userId="09b2dc9efeba000e" providerId="LiveId" clId="{63017337-1734-4076-8187-47E5DE1FE32F}"/>
    <pc:docChg chg="modSld">
      <pc:chgData name="Karol Lemos" userId="09b2dc9efeba000e" providerId="LiveId" clId="{63017337-1734-4076-8187-47E5DE1FE32F}" dt="2026-08-16T19:13:57.042" v="0" actId="207"/>
      <pc:docMkLst>
        <pc:docMk/>
      </pc:docMkLst>
      <pc:sldChg chg="modSp mod">
        <pc:chgData name="Karol Lemos" userId="09b2dc9efeba000e" providerId="LiveId" clId="{63017337-1734-4076-8187-47E5DE1FE32F}" dt="2026-08-16T19:13:57.042" v="0" actId="207"/>
        <pc:sldMkLst>
          <pc:docMk/>
          <pc:sldMk cId="346768584" sldId="269"/>
        </pc:sldMkLst>
        <pc:spChg chg="mod">
          <ac:chgData name="Karol Lemos" userId="09b2dc9efeba000e" providerId="LiveId" clId="{63017337-1734-4076-8187-47E5DE1FE32F}" dt="2026-08-16T19:13:57.042" v="0" actId="207"/>
          <ac:spMkLst>
            <pc:docMk/>
            <pc:sldMk cId="346768584" sldId="269"/>
            <ac:spMk id="4" creationId="{0D0EA70A-B628-E502-B9C9-29126306675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AFEAC-1939-427A-BFED-41BE61E8D2C9}" type="datetimeFigureOut">
              <a:rPr lang="de-DE" smtClean="0"/>
              <a:t>16.08.2026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8F197-12C6-40EB-AB21-93F6BE3C0C17}" type="slidenum">
              <a:rPr lang="de-DE" smtClean="0"/>
              <a:t>‹nº›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F9986-F5F9-4783-9327-1873ED2E17B3}" type="datetimeFigureOut">
              <a:rPr lang="de-DE" smtClean="0"/>
              <a:pPr/>
              <a:t>16.08.2026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A5224-3157-42AE-94A0-74357A200AC9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325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9588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AEE13392-9507-2DA3-178E-FE473D89A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>
            <a:extLst>
              <a:ext uri="{FF2B5EF4-FFF2-40B4-BE49-F238E27FC236}">
                <a16:creationId xmlns:a16="http://schemas.microsoft.com/office/drawing/2014/main" id="{7CA86A97-1119-C255-CB91-218024317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3A3E95D0-C123-B56A-0D5D-9FB58C66E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4CF2545F-84C0-3B80-E780-080B42D958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2950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35A22891-D3D9-D366-9F56-51646B63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>
            <a:extLst>
              <a:ext uri="{FF2B5EF4-FFF2-40B4-BE49-F238E27FC236}">
                <a16:creationId xmlns:a16="http://schemas.microsoft.com/office/drawing/2014/main" id="{938570A9-8CE5-2332-E037-BBEAE4A469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5:notes">
            <a:extLst>
              <a:ext uri="{FF2B5EF4-FFF2-40B4-BE49-F238E27FC236}">
                <a16:creationId xmlns:a16="http://schemas.microsoft.com/office/drawing/2014/main" id="{28E2A2AD-FB54-F036-EEDE-A22023288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>
            <a:extLst>
              <a:ext uri="{FF2B5EF4-FFF2-40B4-BE49-F238E27FC236}">
                <a16:creationId xmlns:a16="http://schemas.microsoft.com/office/drawing/2014/main" id="{CB7496DC-03D1-9B9A-80CC-860DE643F1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3717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9CDB8A-2293-40F7-BFA4-D6093B1A3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FCCFD4C-C5F2-4AB2-9E53-4B55DEA93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6E2A65-844D-4F93-8E61-4BE845CC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586FCC-A715-44A7-8A83-D05EF2DB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19DE8C-498F-449A-A8DB-7E250DFE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997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9F0CC-6D26-4E5C-9F3F-E5D4783FE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1B3452-E3EE-48DA-92F5-C332E34C2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957949-291A-421B-AA8A-B6B55CE52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5F6FA4-87EF-40AE-9C23-58B0DE311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29FACA-D40D-4998-AA31-1BCA73B3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887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392D10-6AF0-4529-890C-1F4E7C2D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128B3A-3A94-4FC8-BAF5-CC65AF029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F34953-3457-4A70-8CD1-EE9BC3DE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F157B0-0ABC-4732-9B95-CC108666B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FFB55C-6E3B-4F84-B5A0-90B2D0C3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77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FF0BFC-07A3-46C0-B65F-9C0A19A32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63EE76-E549-4020-AEEB-BCCA679F4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8E666AE-B46D-4C84-900F-A9AD07C09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C8765D-1DC7-498D-A0FD-34B7BEEA7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52C9580-428A-40AA-B53E-98F08618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00C1D2-FF69-43B9-B94B-F2E9C343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56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B70170-173E-4972-A954-F9D8EAFCD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B7840B-8916-46AC-9C6A-3C143D0F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597282-DC92-4BEB-A936-5697F2BA8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846A02-EA95-436E-9F0A-315650671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ADE8512-1962-4EB8-A5F3-63A8F2FB9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D04602-CA31-44AF-B9B0-536738A6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DA10D62-0B8E-40CB-8C51-4D55A6E33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BEF960B-FE09-4BC6-AD7E-8D48673A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9829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F98287-7A7E-4337-BF2A-18DF1825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CA8667-9BE1-42D7-8B13-A1125E9A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406B4F-4ECE-41F5-9994-14333BBE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6AAAF4-33AC-4AD5-B39C-8ED46CAB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107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4902863-BB5F-4861-8601-0467E1DF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995E1D-A743-43F5-8B89-B2FCF1BE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51ACE6-F0CD-473F-A63A-EC65F9DA5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4460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D3CE1C-F1EB-4CFD-B545-AC72A2C38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FB7E38-768E-47D9-8304-D73E82647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9BBCA7-6B4A-47DD-9933-024162D96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B52F3DA-1652-4A1E-BD62-178C0318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237089-CFFF-4110-88A4-217EC70E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B2733E-F071-4B9C-8EC7-819AE9357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98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880C13-641A-46DB-A5A5-5124B34B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DBAEF21-0D24-4B1F-B1E4-48FC9B617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70094A-B2FA-466A-89B1-076C1CC89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321C14-8FCE-4693-883D-F1F7855A3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CC035C-220A-4FDC-B335-18920ACC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F4F7C2-9775-4250-B62B-F380EB34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137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8D94D0-346D-4397-AA81-E7BBED389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8576516-4090-4BB1-8FA7-FE5B96DC9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A4CCC0-B081-4045-BEDB-0AD5366E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B23A28-8D24-48B6-A22B-15AB4BCB1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6CA4E1-7485-4768-A66F-D7FCB524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353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E00941F-3553-41CD-8759-34AAFA5140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F87B0CE-6FB4-492E-8405-A569027B2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4087C4-8CDD-4CD7-A072-6A8B2FE9F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4AC550-BDBF-40D8-8F59-2EA16076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95EAD5-E41C-4B1B-8525-EA815569E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BDBDD-3194-44C3-9CC6-EE04F9A44DC2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6945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Two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7;p1">
            <a:extLst>
              <a:ext uri="{FF2B5EF4-FFF2-40B4-BE49-F238E27FC236}">
                <a16:creationId xmlns:a16="http://schemas.microsoft.com/office/drawing/2014/main" id="{2D4E52CB-EACE-FAE4-234C-0C0A4B82B72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493661" y="121205"/>
            <a:ext cx="531090" cy="6777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173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B047D8-07DC-4961-98BE-2077E7F36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A02AE6-A834-4A51-90B1-F037EF043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34BA5E-89B4-4AC3-9BCC-5E6457181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FD92A8-F802-4F7E-A5A4-BE1C3FA0A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BDC3C8-283A-4B02-A601-1961A5252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BDBDD-3194-44C3-9CC6-EE04F9A44DC2}" type="slidenum">
              <a:rPr lang="en-US" noProof="0" smtClean="0"/>
              <a:pPr/>
              <a:t>‹nº›</a:t>
            </a:fld>
            <a:endParaRPr lang="en-US" noProof="0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EBBE0DF2-F562-40D3-A957-62FA789BC3F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" y="6176962"/>
            <a:ext cx="6810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54DC756-7FAE-FC71-0B6F-29D1A7BFA13D}"/>
              </a:ext>
            </a:extLst>
          </p:cNvPr>
          <p:cNvSpPr txBox="1">
            <a:spLocks/>
          </p:cNvSpPr>
          <p:nvPr/>
        </p:nvSpPr>
        <p:spPr>
          <a:xfrm>
            <a:off x="9001125" y="629920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BCBDBDD-3194-44C3-9CC6-EE04F9A44DC2}" type="slidenum">
              <a:rPr lang="de-DE" sz="2800" smtClean="0"/>
              <a:pPr algn="r"/>
              <a:t>1</a:t>
            </a:fld>
            <a:endParaRPr lang="de-DE" sz="2800" dirty="0"/>
          </a:p>
        </p:txBody>
      </p:sp>
      <p:pic>
        <p:nvPicPr>
          <p:cNvPr id="54" name="Image 53">
            <a:extLst>
              <a:ext uri="{FF2B5EF4-FFF2-40B4-BE49-F238E27FC236}">
                <a16:creationId xmlns:a16="http://schemas.microsoft.com/office/drawing/2014/main" id="{2F629C9B-D500-4C91-BC2D-1BAE2556BA7F}"/>
              </a:ext>
            </a:extLst>
          </p:cNvPr>
          <p:cNvPicPr/>
          <p:nvPr/>
        </p:nvPicPr>
        <p:blipFill rotWithShape="1">
          <a:blip r:embed="rId3"/>
          <a:srcRect l="21046"/>
          <a:stretch/>
        </p:blipFill>
        <p:spPr>
          <a:xfrm>
            <a:off x="9496457" y="98117"/>
            <a:ext cx="1976611" cy="730250"/>
          </a:xfrm>
          <a:prstGeom prst="rect">
            <a:avLst/>
          </a:prstGeom>
        </p:spPr>
      </p:pic>
      <p:sp>
        <p:nvSpPr>
          <p:cNvPr id="41" name="CaixaDeTexto 3">
            <a:extLst>
              <a:ext uri="{FF2B5EF4-FFF2-40B4-BE49-F238E27FC236}">
                <a16:creationId xmlns:a16="http://schemas.microsoft.com/office/drawing/2014/main" id="{023098B9-D2F2-492B-9B90-1F2E14A70E8B}"/>
              </a:ext>
            </a:extLst>
          </p:cNvPr>
          <p:cNvSpPr txBox="1"/>
          <p:nvPr/>
        </p:nvSpPr>
        <p:spPr>
          <a:xfrm>
            <a:off x="75387" y="154308"/>
            <a:ext cx="9421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9200"/>
                </a:solidFill>
                <a:latin typeface="Helvetica Neue"/>
              </a:rPr>
              <a:t>ORGANIZATION OF THE EXTRACTED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40064" y="909474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00007E"/>
                </a:solidFill>
                <a:latin typeface="Helvetica Neue"/>
              </a:rPr>
              <a:t>Two complementary workstreams were applied to the 155 review-form entries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5585" y="1575265"/>
            <a:ext cx="5349240" cy="3703320"/>
          </a:xfrm>
          <a:prstGeom prst="roundRect">
            <a:avLst/>
          </a:prstGeom>
          <a:solidFill>
            <a:srgbClr val="E1EFFC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572473" y="1785577"/>
            <a:ext cx="438912" cy="438912"/>
          </a:xfrm>
          <a:prstGeom prst="ellipse">
            <a:avLst/>
          </a:prstGeom>
          <a:solidFill>
            <a:srgbClr val="00007E"/>
          </a:solidFill>
          <a:ln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0257" y="1721569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 dirty="0">
                <a:solidFill>
                  <a:srgbClr val="00007E"/>
                </a:solidFill>
                <a:latin typeface="Helvetica Neue"/>
              </a:rPr>
              <a:t>DATA ORGANIZATION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7337" y="2416400"/>
            <a:ext cx="180183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6E6E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</a:t>
            </a:r>
            <a:r>
              <a:rPr sz="1600" b="1" dirty="0" err="1">
                <a:solidFill>
                  <a:srgbClr val="6E6E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extractio</a:t>
            </a:r>
            <a:r>
              <a:rPr lang="fr-FR" sz="1600" b="1" dirty="0">
                <a:solidFill>
                  <a:srgbClr val="6E6E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sz="1600" b="1" dirty="0">
              <a:solidFill>
                <a:srgbClr val="6E6E6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62744" y="2700589"/>
            <a:ext cx="3582785" cy="25545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 algn="l">
              <a:buFontTx/>
              <a:buChar char="-"/>
            </a:pPr>
            <a:r>
              <a:rPr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Empty columns</a:t>
            </a:r>
            <a:endParaRPr lang="fr-FR" sz="1600" b="1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MWP &amp; traditional tests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 types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Specimen geometry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Tests description: execution and sensors • signal processing • properties • identification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 MWP relevance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rheological analysis</a:t>
            </a:r>
          </a:p>
          <a:p>
            <a:pPr marL="285750" indent="-285750">
              <a:buFontTx/>
              <a:buChar char="-"/>
            </a:pPr>
            <a:r>
              <a:rPr lang="en-US"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Reviewer notes</a:t>
            </a:r>
            <a:endParaRPr lang="en-US" sz="1250" b="1" dirty="0">
              <a:solidFill>
                <a:srgbClr val="FF9200"/>
              </a:solidFill>
              <a:latin typeface="Helvetica Neue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887056" y="2752140"/>
            <a:ext cx="1508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6E6E6E"/>
                </a:solidFill>
                <a:latin typeface="Helvetica Neue"/>
              </a:rPr>
              <a:t>all </a:t>
            </a:r>
            <a:r>
              <a:rPr lang="fr-FR" sz="1100" dirty="0">
                <a:solidFill>
                  <a:srgbClr val="6E6E6E"/>
                </a:solidFill>
                <a:latin typeface="Helvetica Neue"/>
              </a:rPr>
              <a:t>articles</a:t>
            </a:r>
            <a:endParaRPr sz="1100" b="0" dirty="0">
              <a:solidFill>
                <a:srgbClr val="6E6E6E"/>
              </a:solidFill>
              <a:latin typeface="Helvetica Neue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771900" y="3003167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6E6E6E"/>
                </a:solidFill>
                <a:latin typeface="Helvetica Neue"/>
              </a:rPr>
              <a:t>AU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71900" y="3233818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6E6E6E"/>
                </a:solidFill>
                <a:latin typeface="Helvetica Neue"/>
              </a:rPr>
              <a:t>H:AT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63340" y="3507895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6E6E6E"/>
                </a:solidFill>
                <a:latin typeface="Helvetica Neue"/>
              </a:rPr>
              <a:t>all “Geometry” fields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39789" y="3991147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6E6E6E"/>
                </a:solidFill>
                <a:latin typeface="Helvetica Neue"/>
              </a:rPr>
              <a:t>IR + UT analysis sections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736297" y="4447014"/>
            <a:ext cx="1508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6E6E6E"/>
                </a:solidFill>
                <a:latin typeface="Helvetica Neue"/>
              </a:rPr>
              <a:t>A</a:t>
            </a:r>
            <a:r>
              <a:rPr lang="fr-FR" sz="1100" b="0" dirty="0">
                <a:solidFill>
                  <a:srgbClr val="6E6E6E"/>
                </a:solidFill>
                <a:latin typeface="Helvetica Neue"/>
              </a:rPr>
              <a:t>BJ</a:t>
            </a:r>
            <a:endParaRPr sz="1100" b="0" dirty="0">
              <a:solidFill>
                <a:srgbClr val="6E6E6E"/>
              </a:solidFill>
              <a:latin typeface="Helvetica Neue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121792" y="1551814"/>
            <a:ext cx="5349240" cy="3703320"/>
          </a:xfrm>
          <a:prstGeom prst="roundRect">
            <a:avLst/>
          </a:prstGeom>
          <a:solidFill>
            <a:srgbClr val="FFF7EB"/>
          </a:solidFill>
          <a:ln>
            <a:solidFill>
              <a:srgbClr val="F5C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6377824" y="1762126"/>
            <a:ext cx="438912" cy="438912"/>
          </a:xfrm>
          <a:prstGeom prst="ellipse">
            <a:avLst/>
          </a:prstGeom>
          <a:solidFill>
            <a:srgbClr val="FF9200"/>
          </a:solidFill>
          <a:ln>
            <a:solidFill>
              <a:srgbClr val="FF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26464" y="1741829"/>
            <a:ext cx="4023360" cy="4154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fr-FR" sz="2100" b="1" dirty="0">
                <a:solidFill>
                  <a:srgbClr val="FF9200"/>
                </a:solidFill>
                <a:latin typeface="Helvetica Neue"/>
              </a:rPr>
              <a:t>ARTICLE</a:t>
            </a:r>
            <a:r>
              <a:rPr sz="2100" b="1" dirty="0">
                <a:solidFill>
                  <a:srgbClr val="FF9200"/>
                </a:solidFill>
                <a:latin typeface="Helvetica Neue"/>
              </a:rPr>
              <a:t> CLASSIFICATION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14400" y="2411237"/>
            <a:ext cx="46177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6E6E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independent contribution principles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41832" y="2877694"/>
            <a:ext cx="4932680" cy="566928"/>
          </a:xfrm>
          <a:prstGeom prst="roundRect">
            <a:avLst/>
          </a:prstGeom>
          <a:solidFill>
            <a:srgbClr val="E1EF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563613" y="3007737"/>
            <a:ext cx="175564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33473" y="2869460"/>
            <a:ext cx="27330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paper trying to do?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41832" y="3609214"/>
            <a:ext cx="4932680" cy="566928"/>
          </a:xfrm>
          <a:prstGeom prst="roundRect">
            <a:avLst/>
          </a:prstGeom>
          <a:solidFill>
            <a:srgbClr val="E2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480301" y="3712159"/>
            <a:ext cx="18389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177899" y="3596927"/>
            <a:ext cx="311025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well is the UT/IRT test described?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441832" y="4340734"/>
            <a:ext cx="4932680" cy="566928"/>
          </a:xfrm>
          <a:prstGeom prst="roundRect">
            <a:avLst/>
          </a:prstGeom>
          <a:solidFill>
            <a:srgbClr val="F4CC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480301" y="4454921"/>
            <a:ext cx="187590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E636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52129" y="4311063"/>
            <a:ext cx="3572439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are </a:t>
            </a:r>
            <a:r>
              <a:rPr lang="fr-FR" sz="160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waves</a:t>
            </a:r>
            <a:r>
              <a:rPr lang="fr-FR"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transformed into properties?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63613" y="5355129"/>
            <a:ext cx="4572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Output: one Primary Contribution per paper + optional Secondary Contribution</a:t>
            </a:r>
          </a:p>
        </p:txBody>
      </p:sp>
      <p:sp>
        <p:nvSpPr>
          <p:cNvPr id="8" name="TextBox 58">
            <a:extLst>
              <a:ext uri="{FF2B5EF4-FFF2-40B4-BE49-F238E27FC236}">
                <a16:creationId xmlns:a16="http://schemas.microsoft.com/office/drawing/2014/main" id="{683EBB7D-3FB3-D1A7-ADEB-30BDD400373E}"/>
              </a:ext>
            </a:extLst>
          </p:cNvPr>
          <p:cNvSpPr txBox="1"/>
          <p:nvPr/>
        </p:nvSpPr>
        <p:spPr>
          <a:xfrm>
            <a:off x="3608049" y="2420972"/>
            <a:ext cx="206677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 b="1" dirty="0">
                <a:solidFill>
                  <a:srgbClr val="6E6E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 columns</a:t>
            </a:r>
            <a:endParaRPr sz="1600" b="1" dirty="0">
              <a:solidFill>
                <a:srgbClr val="6E6E6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79">
            <a:extLst>
              <a:ext uri="{FF2B5EF4-FFF2-40B4-BE49-F238E27FC236}">
                <a16:creationId xmlns:a16="http://schemas.microsoft.com/office/drawing/2014/main" id="{4E619AD1-1BC3-5C71-892B-D2C3FAFCCC13}"/>
              </a:ext>
            </a:extLst>
          </p:cNvPr>
          <p:cNvSpPr txBox="1"/>
          <p:nvPr/>
        </p:nvSpPr>
        <p:spPr>
          <a:xfrm>
            <a:off x="3742804" y="4708899"/>
            <a:ext cx="1508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6E6E6E"/>
                </a:solidFill>
                <a:latin typeface="Helvetica Neue"/>
              </a:rPr>
              <a:t>A</a:t>
            </a:r>
            <a:r>
              <a:rPr lang="fr-FR" sz="1100" dirty="0">
                <a:solidFill>
                  <a:srgbClr val="6E6E6E"/>
                </a:solidFill>
                <a:latin typeface="Helvetica Neue"/>
              </a:rPr>
              <a:t>AY:ABC</a:t>
            </a:r>
            <a:endParaRPr sz="1100" b="0" dirty="0">
              <a:solidFill>
                <a:srgbClr val="6E6E6E"/>
              </a:solidFill>
              <a:latin typeface="Helvetica Neue"/>
            </a:endParaRPr>
          </a:p>
        </p:txBody>
      </p:sp>
      <p:sp>
        <p:nvSpPr>
          <p:cNvPr id="12" name="TextBox 79">
            <a:extLst>
              <a:ext uri="{FF2B5EF4-FFF2-40B4-BE49-F238E27FC236}">
                <a16:creationId xmlns:a16="http://schemas.microsoft.com/office/drawing/2014/main" id="{2E629E49-4473-AFDD-68C7-E466514B37C8}"/>
              </a:ext>
            </a:extLst>
          </p:cNvPr>
          <p:cNvSpPr txBox="1"/>
          <p:nvPr/>
        </p:nvSpPr>
        <p:spPr>
          <a:xfrm>
            <a:off x="3749311" y="4944424"/>
            <a:ext cx="15087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dirty="0">
                <a:solidFill>
                  <a:srgbClr val="6E6E6E"/>
                </a:solidFill>
                <a:latin typeface="Helvetica Neue"/>
              </a:rPr>
              <a:t>A</a:t>
            </a:r>
            <a:r>
              <a:rPr lang="fr-FR" sz="1100" b="0" dirty="0">
                <a:solidFill>
                  <a:srgbClr val="6E6E6E"/>
                </a:solidFill>
                <a:latin typeface="Helvetica Neue"/>
              </a:rPr>
              <a:t>BD:ABL</a:t>
            </a:r>
            <a:endParaRPr sz="1100" b="0" dirty="0">
              <a:solidFill>
                <a:srgbClr val="6E6E6E"/>
              </a:solidFill>
              <a:latin typeface="Helvetica Neue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882CE8-1731-C927-87C1-F4027DEBFFC9}"/>
              </a:ext>
            </a:extLst>
          </p:cNvPr>
          <p:cNvSpPr txBox="1"/>
          <p:nvPr/>
        </p:nvSpPr>
        <p:spPr>
          <a:xfrm>
            <a:off x="627337" y="539277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Orange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= data also used for article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13052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723F356-64CB-500B-EE9F-986400105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75"/>
          <p:cNvSpPr/>
          <p:nvPr/>
        </p:nvSpPr>
        <p:spPr>
          <a:xfrm>
            <a:off x="10041405" y="2626085"/>
            <a:ext cx="1342875" cy="719894"/>
          </a:xfrm>
          <a:prstGeom prst="roundRect">
            <a:avLst/>
          </a:prstGeom>
          <a:solidFill>
            <a:srgbClr val="FCE1E1"/>
          </a:solidFill>
          <a:ln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7436828" y="2626084"/>
            <a:ext cx="1195108" cy="719897"/>
          </a:xfrm>
          <a:prstGeom prst="roundRect">
            <a:avLst/>
          </a:prstGeom>
          <a:solidFill>
            <a:srgbClr val="FCE1E1"/>
          </a:solidFill>
          <a:ln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805672" y="2626084"/>
            <a:ext cx="1106424" cy="719895"/>
          </a:xfrm>
          <a:prstGeom prst="roundRect">
            <a:avLst/>
          </a:prstGeom>
          <a:solidFill>
            <a:srgbClr val="FCE1E1"/>
          </a:solidFill>
          <a:ln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014065" y="2576897"/>
            <a:ext cx="1459003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Identification
method</a:t>
            </a:r>
            <a:endParaRPr lang="fr-FR" sz="1600" b="1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0-3</a:t>
            </a:r>
            <a:endParaRPr sz="1600" b="1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406457" y="2586766"/>
            <a:ext cx="1280159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
processing</a:t>
            </a:r>
            <a:endParaRPr lang="fr-FR" sz="1600" b="1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0-2</a:t>
            </a:r>
            <a:endParaRPr sz="1600" b="1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97236" y="2556158"/>
            <a:ext cx="1342875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
complexity</a:t>
            </a:r>
            <a:endParaRPr lang="fr-FR" sz="1600" b="1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0-3</a:t>
            </a:r>
            <a:endParaRPr sz="1600" b="1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A9176CF-F10E-DA17-D3A6-953B21D4D912}"/>
              </a:ext>
            </a:extLst>
          </p:cNvPr>
          <p:cNvSpPr txBox="1">
            <a:spLocks/>
          </p:cNvSpPr>
          <p:nvPr/>
        </p:nvSpPr>
        <p:spPr>
          <a:xfrm>
            <a:off x="9001125" y="629920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BCBDBDD-3194-44C3-9CC6-EE04F9A44DC2}" type="slidenum">
              <a:rPr lang="de-DE" sz="2800" smtClean="0"/>
              <a:pPr algn="r"/>
              <a:t>2</a:t>
            </a:fld>
            <a:endParaRPr lang="de-DE" sz="2800" dirty="0"/>
          </a:p>
        </p:txBody>
      </p:sp>
      <p:pic>
        <p:nvPicPr>
          <p:cNvPr id="54" name="Image 53">
            <a:extLst>
              <a:ext uri="{FF2B5EF4-FFF2-40B4-BE49-F238E27FC236}">
                <a16:creationId xmlns:a16="http://schemas.microsoft.com/office/drawing/2014/main" id="{2146AE1D-C002-8DC2-4431-436661D2E3FC}"/>
              </a:ext>
            </a:extLst>
          </p:cNvPr>
          <p:cNvPicPr/>
          <p:nvPr/>
        </p:nvPicPr>
        <p:blipFill rotWithShape="1">
          <a:blip r:embed="rId3"/>
          <a:srcRect l="21046"/>
          <a:stretch/>
        </p:blipFill>
        <p:spPr>
          <a:xfrm>
            <a:off x="9496457" y="98117"/>
            <a:ext cx="1976611" cy="730250"/>
          </a:xfrm>
          <a:prstGeom prst="rect">
            <a:avLst/>
          </a:prstGeom>
        </p:spPr>
      </p:pic>
      <p:sp>
        <p:nvSpPr>
          <p:cNvPr id="41" name="CaixaDeTexto 3">
            <a:extLst>
              <a:ext uri="{FF2B5EF4-FFF2-40B4-BE49-F238E27FC236}">
                <a16:creationId xmlns:a16="http://schemas.microsoft.com/office/drawing/2014/main" id="{D53E3B49-7972-0483-21D9-57E2235FA8E2}"/>
              </a:ext>
            </a:extLst>
          </p:cNvPr>
          <p:cNvSpPr txBox="1"/>
          <p:nvPr/>
        </p:nvSpPr>
        <p:spPr>
          <a:xfrm>
            <a:off x="77330" y="60933"/>
            <a:ext cx="9624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FF9200"/>
                </a:solidFill>
                <a:latin typeface="Helvetica Neue"/>
              </a:rPr>
              <a:t>CLASSIFICATION: PRINCIPLES AND </a:t>
            </a:r>
            <a:r>
              <a:rPr lang="fr-FR" sz="3200" b="1" dirty="0">
                <a:solidFill>
                  <a:srgbClr val="FF9200"/>
                </a:solidFill>
                <a:latin typeface="Helvetica Neue"/>
              </a:rPr>
              <a:t>CRITERIA</a:t>
            </a:r>
            <a:endParaRPr sz="3200" b="1" dirty="0">
              <a:solidFill>
                <a:srgbClr val="FF9200"/>
              </a:solidFill>
              <a:latin typeface="Helvetica Neue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02920" y="952089"/>
            <a:ext cx="3246120" cy="1261872"/>
          </a:xfrm>
          <a:prstGeom prst="roundRect">
            <a:avLst/>
          </a:prstGeom>
          <a:solidFill>
            <a:srgbClr val="E1EF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67512" y="1011412"/>
            <a:ext cx="2240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58" name="Oval 57"/>
          <p:cNvSpPr/>
          <p:nvPr/>
        </p:nvSpPr>
        <p:spPr>
          <a:xfrm>
            <a:off x="2839072" y="961234"/>
            <a:ext cx="744637" cy="370330"/>
          </a:xfrm>
          <a:prstGeom prst="ellipse">
            <a:avLst/>
          </a:prstGeom>
          <a:solidFill>
            <a:srgbClr val="00007E"/>
          </a:solidFill>
          <a:ln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0–3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" y="1358885"/>
            <a:ext cx="2743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Applied engineering use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" y="1546670"/>
            <a:ext cx="2788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6E6E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materials • conditions • performance • comparison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069080" y="952089"/>
            <a:ext cx="3246120" cy="1261872"/>
          </a:xfrm>
          <a:prstGeom prst="roundRect">
            <a:avLst/>
          </a:prstGeom>
          <a:solidFill>
            <a:srgbClr val="E2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233672" y="1011412"/>
            <a:ext cx="2240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63" name="Oval 62"/>
          <p:cNvSpPr/>
          <p:nvPr/>
        </p:nvSpPr>
        <p:spPr>
          <a:xfrm>
            <a:off x="6422689" y="997232"/>
            <a:ext cx="769296" cy="356503"/>
          </a:xfrm>
          <a:prstGeom prst="ellips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0–3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33672" y="1358885"/>
            <a:ext cx="2743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procedure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33672" y="1546670"/>
            <a:ext cx="2788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6E6E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equipment • sensors • configuration • repetitions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35240" y="952089"/>
            <a:ext cx="3246120" cy="1261872"/>
          </a:xfrm>
          <a:prstGeom prst="roundRect">
            <a:avLst/>
          </a:prstGeom>
          <a:solidFill>
            <a:srgbClr val="F4CC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799831" y="1011412"/>
            <a:ext cx="2240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36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</a:t>
            </a:r>
          </a:p>
        </p:txBody>
      </p:sp>
      <p:sp>
        <p:nvSpPr>
          <p:cNvPr id="68" name="Oval 67"/>
          <p:cNvSpPr/>
          <p:nvPr/>
        </p:nvSpPr>
        <p:spPr>
          <a:xfrm>
            <a:off x="9994852" y="1016787"/>
            <a:ext cx="804670" cy="310206"/>
          </a:xfrm>
          <a:prstGeom prst="ellipse">
            <a:avLst/>
          </a:prstGeom>
          <a:solidFill>
            <a:srgbClr val="E63612"/>
          </a:solidFill>
          <a:ln>
            <a:solidFill>
              <a:srgbClr val="E63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0–3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99830" y="1358885"/>
            <a:ext cx="354167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Wave → </a:t>
            </a:r>
            <a:r>
              <a:rPr lang="fr-FR" sz="1600" b="1" dirty="0" err="1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Mechanical</a:t>
            </a:r>
            <a:r>
              <a:rPr lang="fr-FR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</a:t>
            </a:r>
            <a:r>
              <a:rPr lang="fr-FR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1600" b="1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799831" y="1546670"/>
            <a:ext cx="2788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 b="0" dirty="0">
                <a:solidFill>
                  <a:srgbClr val="6E6E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 • property </a:t>
            </a:r>
            <a:r>
              <a:rPr sz="1600" b="0" dirty="0">
                <a:solidFill>
                  <a:srgbClr val="6E6E6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identification method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44188" y="2235985"/>
            <a:ext cx="354797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E636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 sub-components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631936" y="2936980"/>
            <a:ext cx="164592" cy="0"/>
          </a:xfrm>
          <a:prstGeom prst="line">
            <a:avLst/>
          </a:prstGeom>
          <a:ln w="19050">
            <a:solidFill>
              <a:srgbClr val="E63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895378" y="2936980"/>
            <a:ext cx="164592" cy="0"/>
          </a:xfrm>
          <a:prstGeom prst="line">
            <a:avLst/>
          </a:prstGeom>
          <a:ln w="19050">
            <a:solidFill>
              <a:srgbClr val="E636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02920" y="3168054"/>
            <a:ext cx="154755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</a:t>
            </a:r>
            <a:r>
              <a:rPr lang="fr-FR" sz="1600" b="1" dirty="0" err="1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way</a:t>
            </a:r>
            <a:r>
              <a:rPr lang="fr-FR" sz="1600" b="1" dirty="0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600" b="1" dirty="0">
              <a:solidFill>
                <a:srgbClr val="0000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640080" y="3561359"/>
            <a:ext cx="347472" cy="347472"/>
          </a:xfrm>
          <a:prstGeom prst="ellipse">
            <a:avLst/>
          </a:prstGeom>
          <a:solidFill>
            <a:srgbClr val="00007E"/>
          </a:solidFill>
          <a:ln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7280" y="3556674"/>
            <a:ext cx="5532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the 3 technical contributions</a:t>
            </a:r>
          </a:p>
        </p:txBody>
      </p:sp>
      <p:sp>
        <p:nvSpPr>
          <p:cNvPr id="84" name="Oval 83"/>
          <p:cNvSpPr/>
          <p:nvPr/>
        </p:nvSpPr>
        <p:spPr>
          <a:xfrm>
            <a:off x="640080" y="4036847"/>
            <a:ext cx="347472" cy="347472"/>
          </a:xfrm>
          <a:prstGeom prst="ellipse">
            <a:avLst/>
          </a:prstGeom>
          <a:solidFill>
            <a:srgbClr val="00007E"/>
          </a:solidFill>
          <a:ln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" y="4032162"/>
            <a:ext cx="5532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 score → Primary Contribution</a:t>
            </a:r>
          </a:p>
        </p:txBody>
      </p:sp>
      <p:sp>
        <p:nvSpPr>
          <p:cNvPr id="87" name="Oval 86"/>
          <p:cNvSpPr/>
          <p:nvPr/>
        </p:nvSpPr>
        <p:spPr>
          <a:xfrm>
            <a:off x="640080" y="4512334"/>
            <a:ext cx="347472" cy="347472"/>
          </a:xfrm>
          <a:prstGeom prst="ellipse">
            <a:avLst/>
          </a:prstGeom>
          <a:solidFill>
            <a:srgbClr val="FF9200"/>
          </a:solidFill>
          <a:ln>
            <a:solidFill>
              <a:srgbClr val="FF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9719" y="5140517"/>
            <a:ext cx="5532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Second-highest score ≥ 2 → Secondary Contribution</a:t>
            </a:r>
          </a:p>
        </p:txBody>
      </p:sp>
      <p:sp>
        <p:nvSpPr>
          <p:cNvPr id="90" name="Oval 89"/>
          <p:cNvSpPr/>
          <p:nvPr/>
        </p:nvSpPr>
        <p:spPr>
          <a:xfrm>
            <a:off x="640080" y="5117130"/>
            <a:ext cx="347472" cy="347472"/>
          </a:xfrm>
          <a:prstGeom prst="ellipse">
            <a:avLst/>
          </a:prstGeom>
          <a:solidFill>
            <a:srgbClr val="00007E"/>
          </a:solidFill>
          <a:ln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3460" y="4485701"/>
            <a:ext cx="655919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 for highest score? → </a:t>
            </a:r>
            <a:r>
              <a:rPr lang="fr-FR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</a:t>
            </a:r>
            <a:r>
              <a:rPr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Contribution + Reviewer Notes.</a:t>
            </a:r>
            <a:endParaRPr sz="1600" b="1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Oval 92"/>
          <p:cNvSpPr/>
          <p:nvPr/>
        </p:nvSpPr>
        <p:spPr>
          <a:xfrm>
            <a:off x="640080" y="5592618"/>
            <a:ext cx="347472" cy="347472"/>
          </a:xfrm>
          <a:prstGeom prst="ellipse">
            <a:avLst/>
          </a:prstGeom>
          <a:solidFill>
            <a:srgbClr val="00007E"/>
          </a:solidFill>
          <a:ln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74337" y="4771516"/>
            <a:ext cx="55321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Reviewer Assessment never changes the technical scores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546744" y="3444895"/>
            <a:ext cx="3794760" cy="1234440"/>
          </a:xfrm>
          <a:prstGeom prst="roundRect">
            <a:avLst/>
          </a:prstGeom>
          <a:solidFill>
            <a:srgbClr val="EBE4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7729623" y="3522506"/>
            <a:ext cx="371532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RHEOLOGICAL MODELLING (0–2)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2652" y="3770059"/>
            <a:ext cx="3929268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evidence for Data Analysis.
Not a fourth group and not directly included in the 0–3 Data Analysis score.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376562-75C5-FEB3-91BD-EA3C0CEB0AF7}"/>
              </a:ext>
            </a:extLst>
          </p:cNvPr>
          <p:cNvSpPr txBox="1"/>
          <p:nvPr/>
        </p:nvSpPr>
        <p:spPr>
          <a:xfrm>
            <a:off x="301700" y="2179046"/>
            <a:ext cx="35479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0=no clear applied focus;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1=limited; 2=clear; 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3=strong applied contribution.</a:t>
            </a:r>
          </a:p>
        </p:txBody>
      </p:sp>
      <p:sp>
        <p:nvSpPr>
          <p:cNvPr id="6" name="TextBox 87">
            <a:extLst>
              <a:ext uri="{FF2B5EF4-FFF2-40B4-BE49-F238E27FC236}">
                <a16:creationId xmlns:a16="http://schemas.microsoft.com/office/drawing/2014/main" id="{5E867C8E-97ED-8D01-ED00-61BCE049040F}"/>
              </a:ext>
            </a:extLst>
          </p:cNvPr>
          <p:cNvSpPr txBox="1"/>
          <p:nvPr/>
        </p:nvSpPr>
        <p:spPr>
          <a:xfrm>
            <a:off x="1030024" y="5601536"/>
            <a:ext cx="69317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Unresolved tie → technical evidence + Low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ClassificationConfidence</a:t>
            </a:r>
            <a:r>
              <a:rPr lang="en-US"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600" b="0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797FD01-201C-8365-F566-DD9652790EC1}"/>
              </a:ext>
            </a:extLst>
          </p:cNvPr>
          <p:cNvSpPr txBox="1"/>
          <p:nvPr/>
        </p:nvSpPr>
        <p:spPr>
          <a:xfrm>
            <a:off x="1049719" y="5945266"/>
            <a:ext cx="61375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confidence = the Primary Contribution could not be clearly determined from the scores or reviewer assessment and required additional interpretation of the technical evidence.</a:t>
            </a:r>
          </a:p>
        </p:txBody>
      </p:sp>
    </p:spTree>
    <p:extLst>
      <p:ext uri="{BB962C8B-B14F-4D97-AF65-F5344CB8AC3E}">
        <p14:creationId xmlns:p14="http://schemas.microsoft.com/office/powerpoint/2010/main" val="81088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D5F2D9BF-6B19-D6CF-DE0F-69CE70D7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F02FD34-2436-8323-D743-AE7914A0E8D2}"/>
              </a:ext>
            </a:extLst>
          </p:cNvPr>
          <p:cNvSpPr txBox="1">
            <a:spLocks/>
          </p:cNvSpPr>
          <p:nvPr/>
        </p:nvSpPr>
        <p:spPr>
          <a:xfrm>
            <a:off x="9001125" y="629920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BCBDBDD-3194-44C3-9CC6-EE04F9A44DC2}" type="slidenum">
              <a:rPr lang="de-DE" sz="2800" smtClean="0"/>
              <a:pPr algn="r"/>
              <a:t>3</a:t>
            </a:fld>
            <a:endParaRPr lang="de-DE" sz="2800" dirty="0"/>
          </a:p>
        </p:txBody>
      </p:sp>
      <p:pic>
        <p:nvPicPr>
          <p:cNvPr id="54" name="Image 53">
            <a:extLst>
              <a:ext uri="{FF2B5EF4-FFF2-40B4-BE49-F238E27FC236}">
                <a16:creationId xmlns:a16="http://schemas.microsoft.com/office/drawing/2014/main" id="{8E837D14-4F9B-01F1-4D8A-A0C056865355}"/>
              </a:ext>
            </a:extLst>
          </p:cNvPr>
          <p:cNvPicPr/>
          <p:nvPr/>
        </p:nvPicPr>
        <p:blipFill rotWithShape="1">
          <a:blip r:embed="rId3"/>
          <a:srcRect l="21046"/>
          <a:stretch/>
        </p:blipFill>
        <p:spPr>
          <a:xfrm>
            <a:off x="9496457" y="98117"/>
            <a:ext cx="1976611" cy="730250"/>
          </a:xfrm>
          <a:prstGeom prst="rect">
            <a:avLst/>
          </a:prstGeom>
        </p:spPr>
      </p:pic>
      <p:sp>
        <p:nvSpPr>
          <p:cNvPr id="41" name="CaixaDeTexto 3">
            <a:extLst>
              <a:ext uri="{FF2B5EF4-FFF2-40B4-BE49-F238E27FC236}">
                <a16:creationId xmlns:a16="http://schemas.microsoft.com/office/drawing/2014/main" id="{6B53C4A3-3D7E-A221-1C43-561D8E8033A2}"/>
              </a:ext>
            </a:extLst>
          </p:cNvPr>
          <p:cNvSpPr txBox="1"/>
          <p:nvPr/>
        </p:nvSpPr>
        <p:spPr>
          <a:xfrm>
            <a:off x="180952" y="109720"/>
            <a:ext cx="91844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FF9200"/>
                </a:solidFill>
                <a:latin typeface="Helvetica Neue"/>
              </a:rPr>
              <a:t>EXAMPLE: HOW ONE PAPER IS CLASSIFIED</a:t>
            </a:r>
          </a:p>
        </p:txBody>
      </p:sp>
      <p:sp>
        <p:nvSpPr>
          <p:cNvPr id="4" name="TextBox 54">
            <a:extLst>
              <a:ext uri="{FF2B5EF4-FFF2-40B4-BE49-F238E27FC236}">
                <a16:creationId xmlns:a16="http://schemas.microsoft.com/office/drawing/2014/main" id="{0D0EA70A-B628-E502-B9C9-29126306675B}"/>
              </a:ext>
            </a:extLst>
          </p:cNvPr>
          <p:cNvSpPr txBox="1"/>
          <p:nvPr/>
        </p:nvSpPr>
        <p:spPr>
          <a:xfrm>
            <a:off x="0" y="685481"/>
            <a:ext cx="121920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b="1" dirty="0">
                <a:latin typeface="Arial"/>
              </a:rPr>
              <a:t>P120:</a:t>
            </a:r>
          </a:p>
          <a:p>
            <a:r>
              <a:rPr lang="en-US" sz="1600" b="1" dirty="0" err="1">
                <a:latin typeface="Arial"/>
              </a:rPr>
              <a:t>Rashetnia</a:t>
            </a:r>
            <a:r>
              <a:rPr lang="en-US" sz="1600" b="1" dirty="0">
                <a:latin typeface="Arial"/>
              </a:rPr>
              <a:t> et al. (2022): </a:t>
            </a:r>
            <a:r>
              <a:rPr sz="1600" b="1" dirty="0">
                <a:latin typeface="Arial"/>
              </a:rPr>
              <a:t>“Quantifying moisture damage in asphalt concrete using axisymmetric flexural vibration technique”</a:t>
            </a:r>
          </a:p>
        </p:txBody>
      </p:sp>
      <p:sp>
        <p:nvSpPr>
          <p:cNvPr id="6" name="TextBox 55">
            <a:extLst>
              <a:ext uri="{FF2B5EF4-FFF2-40B4-BE49-F238E27FC236}">
                <a16:creationId xmlns:a16="http://schemas.microsoft.com/office/drawing/2014/main" id="{34F99B27-1316-B312-EA4E-AF42DA829FE0}"/>
              </a:ext>
            </a:extLst>
          </p:cNvPr>
          <p:cNvSpPr txBox="1"/>
          <p:nvPr/>
        </p:nvSpPr>
        <p:spPr>
          <a:xfrm>
            <a:off x="749808" y="1279086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dirty="0">
                <a:solidFill>
                  <a:srgbClr val="5F5F5F"/>
                </a:solidFill>
                <a:latin typeface="Arial"/>
              </a:rPr>
              <a:t>IR • Moisture sensitivity • HMA/WMA • Cylinder + disc</a:t>
            </a:r>
          </a:p>
        </p:txBody>
      </p:sp>
      <p:sp>
        <p:nvSpPr>
          <p:cNvPr id="7" name="Rounded Rectangle 56">
            <a:extLst>
              <a:ext uri="{FF2B5EF4-FFF2-40B4-BE49-F238E27FC236}">
                <a16:creationId xmlns:a16="http://schemas.microsoft.com/office/drawing/2014/main" id="{C5BECE8B-69A6-24B9-99A4-CE8433AC8AB8}"/>
              </a:ext>
            </a:extLst>
          </p:cNvPr>
          <p:cNvSpPr/>
          <p:nvPr/>
        </p:nvSpPr>
        <p:spPr>
          <a:xfrm>
            <a:off x="502920" y="1642692"/>
            <a:ext cx="3246120" cy="1234440"/>
          </a:xfrm>
          <a:prstGeom prst="roundRect">
            <a:avLst/>
          </a:prstGeom>
          <a:solidFill>
            <a:srgbClr val="E1EF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57">
            <a:extLst>
              <a:ext uri="{FF2B5EF4-FFF2-40B4-BE49-F238E27FC236}">
                <a16:creationId xmlns:a16="http://schemas.microsoft.com/office/drawing/2014/main" id="{0F6DB863-B029-D812-309F-4EDCA8F7F461}"/>
              </a:ext>
            </a:extLst>
          </p:cNvPr>
          <p:cNvSpPr txBox="1"/>
          <p:nvPr/>
        </p:nvSpPr>
        <p:spPr>
          <a:xfrm>
            <a:off x="640080" y="1711159"/>
            <a:ext cx="2057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</a:p>
        </p:txBody>
      </p:sp>
      <p:sp>
        <p:nvSpPr>
          <p:cNvPr id="9" name="Oval 58">
            <a:extLst>
              <a:ext uri="{FF2B5EF4-FFF2-40B4-BE49-F238E27FC236}">
                <a16:creationId xmlns:a16="http://schemas.microsoft.com/office/drawing/2014/main" id="{3E2B5D9E-77CD-7F46-6271-4328E08DD162}"/>
              </a:ext>
            </a:extLst>
          </p:cNvPr>
          <p:cNvSpPr/>
          <p:nvPr/>
        </p:nvSpPr>
        <p:spPr>
          <a:xfrm>
            <a:off x="2916741" y="1724988"/>
            <a:ext cx="658563" cy="256032"/>
          </a:xfrm>
          <a:prstGeom prst="ellipse">
            <a:avLst/>
          </a:prstGeom>
          <a:solidFill>
            <a:srgbClr val="00007E"/>
          </a:solidFill>
          <a:ln>
            <a:solidFill>
              <a:srgbClr val="0000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3/3</a:t>
            </a:r>
          </a:p>
        </p:txBody>
      </p:sp>
      <p:sp>
        <p:nvSpPr>
          <p:cNvPr id="10" name="TextBox 59">
            <a:extLst>
              <a:ext uri="{FF2B5EF4-FFF2-40B4-BE49-F238E27FC236}">
                <a16:creationId xmlns:a16="http://schemas.microsoft.com/office/drawing/2014/main" id="{D260453E-232E-A69D-A14F-2E537C8E8BC6}"/>
              </a:ext>
            </a:extLst>
          </p:cNvPr>
          <p:cNvSpPr txBox="1"/>
          <p:nvPr/>
        </p:nvSpPr>
        <p:spPr>
          <a:xfrm>
            <a:off x="717804" y="2023885"/>
            <a:ext cx="2816352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Moisture-damage application
+ conventional-test comparison</a:t>
            </a:r>
          </a:p>
        </p:txBody>
      </p:sp>
      <p:sp>
        <p:nvSpPr>
          <p:cNvPr id="11" name="Rounded Rectangle 60">
            <a:extLst>
              <a:ext uri="{FF2B5EF4-FFF2-40B4-BE49-F238E27FC236}">
                <a16:creationId xmlns:a16="http://schemas.microsoft.com/office/drawing/2014/main" id="{B1A68D88-77DC-8534-C308-F0696B225D96}"/>
              </a:ext>
            </a:extLst>
          </p:cNvPr>
          <p:cNvSpPr/>
          <p:nvPr/>
        </p:nvSpPr>
        <p:spPr>
          <a:xfrm>
            <a:off x="4069080" y="1642692"/>
            <a:ext cx="3246120" cy="1234440"/>
          </a:xfrm>
          <a:prstGeom prst="roundRect">
            <a:avLst/>
          </a:prstGeom>
          <a:solidFill>
            <a:srgbClr val="E2EFD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61">
            <a:extLst>
              <a:ext uri="{FF2B5EF4-FFF2-40B4-BE49-F238E27FC236}">
                <a16:creationId xmlns:a16="http://schemas.microsoft.com/office/drawing/2014/main" id="{81CAB2CB-C3CD-A577-40D0-9A231758CA9D}"/>
              </a:ext>
            </a:extLst>
          </p:cNvPr>
          <p:cNvSpPr txBox="1"/>
          <p:nvPr/>
        </p:nvSpPr>
        <p:spPr>
          <a:xfrm>
            <a:off x="4206240" y="1711159"/>
            <a:ext cx="2057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3" name="Oval 62">
            <a:extLst>
              <a:ext uri="{FF2B5EF4-FFF2-40B4-BE49-F238E27FC236}">
                <a16:creationId xmlns:a16="http://schemas.microsoft.com/office/drawing/2014/main" id="{99C2B0D8-4A66-9AD7-902A-C5CA16B909E9}"/>
              </a:ext>
            </a:extLst>
          </p:cNvPr>
          <p:cNvSpPr/>
          <p:nvPr/>
        </p:nvSpPr>
        <p:spPr>
          <a:xfrm>
            <a:off x="6492240" y="1688412"/>
            <a:ext cx="685800" cy="310896"/>
          </a:xfrm>
          <a:prstGeom prst="ellipse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3/3</a:t>
            </a:r>
          </a:p>
        </p:txBody>
      </p:sp>
      <p:sp>
        <p:nvSpPr>
          <p:cNvPr id="14" name="TextBox 63">
            <a:extLst>
              <a:ext uri="{FF2B5EF4-FFF2-40B4-BE49-F238E27FC236}">
                <a16:creationId xmlns:a16="http://schemas.microsoft.com/office/drawing/2014/main" id="{C83F9432-EE78-FACB-C504-A1ECF1BC53B6}"/>
              </a:ext>
            </a:extLst>
          </p:cNvPr>
          <p:cNvSpPr txBox="1"/>
          <p:nvPr/>
        </p:nvSpPr>
        <p:spPr>
          <a:xfrm>
            <a:off x="3977640" y="2050867"/>
            <a:ext cx="342900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+ accelerometer • free-free
flexural mode • temperatures • validation</a:t>
            </a:r>
          </a:p>
        </p:txBody>
      </p:sp>
      <p:sp>
        <p:nvSpPr>
          <p:cNvPr id="15" name="Rounded Rectangle 64">
            <a:extLst>
              <a:ext uri="{FF2B5EF4-FFF2-40B4-BE49-F238E27FC236}">
                <a16:creationId xmlns:a16="http://schemas.microsoft.com/office/drawing/2014/main" id="{F0435DD7-9C2D-40F2-E53C-DBABF725548A}"/>
              </a:ext>
            </a:extLst>
          </p:cNvPr>
          <p:cNvSpPr/>
          <p:nvPr/>
        </p:nvSpPr>
        <p:spPr>
          <a:xfrm>
            <a:off x="7635239" y="1642692"/>
            <a:ext cx="3623887" cy="1234440"/>
          </a:xfrm>
          <a:prstGeom prst="roundRect">
            <a:avLst/>
          </a:prstGeom>
          <a:solidFill>
            <a:srgbClr val="F4CC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65">
            <a:extLst>
              <a:ext uri="{FF2B5EF4-FFF2-40B4-BE49-F238E27FC236}">
                <a16:creationId xmlns:a16="http://schemas.microsoft.com/office/drawing/2014/main" id="{EAA0379B-AF33-2C21-5491-563876951A6B}"/>
              </a:ext>
            </a:extLst>
          </p:cNvPr>
          <p:cNvSpPr txBox="1"/>
          <p:nvPr/>
        </p:nvSpPr>
        <p:spPr>
          <a:xfrm>
            <a:off x="7772400" y="1711159"/>
            <a:ext cx="2057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E636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</a:t>
            </a:r>
          </a:p>
        </p:txBody>
      </p:sp>
      <p:sp>
        <p:nvSpPr>
          <p:cNvPr id="17" name="Oval 66">
            <a:extLst>
              <a:ext uri="{FF2B5EF4-FFF2-40B4-BE49-F238E27FC236}">
                <a16:creationId xmlns:a16="http://schemas.microsoft.com/office/drawing/2014/main" id="{76E51B6C-88FA-2F45-46EC-2721BFB98C2E}"/>
              </a:ext>
            </a:extLst>
          </p:cNvPr>
          <p:cNvSpPr/>
          <p:nvPr/>
        </p:nvSpPr>
        <p:spPr>
          <a:xfrm>
            <a:off x="10058400" y="1679268"/>
            <a:ext cx="715956" cy="320040"/>
          </a:xfrm>
          <a:prstGeom prst="ellipse">
            <a:avLst/>
          </a:prstGeom>
          <a:solidFill>
            <a:srgbClr val="E63612"/>
          </a:solidFill>
          <a:ln>
            <a:solidFill>
              <a:srgbClr val="E63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3/3</a:t>
            </a:r>
          </a:p>
        </p:txBody>
      </p:sp>
      <p:sp>
        <p:nvSpPr>
          <p:cNvPr id="18" name="TextBox 67">
            <a:extLst>
              <a:ext uri="{FF2B5EF4-FFF2-40B4-BE49-F238E27FC236}">
                <a16:creationId xmlns:a16="http://schemas.microsoft.com/office/drawing/2014/main" id="{1CD06361-FBF8-689B-3641-8C143FC3579F}"/>
              </a:ext>
            </a:extLst>
          </p:cNvPr>
          <p:cNvSpPr txBox="1"/>
          <p:nvPr/>
        </p:nvSpPr>
        <p:spPr>
          <a:xfrm>
            <a:off x="7498080" y="2182405"/>
            <a:ext cx="391668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FFT → complex modulus / phase angle
→ analytical + iterative identification</a:t>
            </a:r>
          </a:p>
        </p:txBody>
      </p:sp>
      <p:sp>
        <p:nvSpPr>
          <p:cNvPr id="19" name="Rounded Rectangle 68">
            <a:extLst>
              <a:ext uri="{FF2B5EF4-FFF2-40B4-BE49-F238E27FC236}">
                <a16:creationId xmlns:a16="http://schemas.microsoft.com/office/drawing/2014/main" id="{D7C27CAA-3EC1-7D65-8213-D7ECEFDF9887}"/>
              </a:ext>
            </a:extLst>
          </p:cNvPr>
          <p:cNvSpPr/>
          <p:nvPr/>
        </p:nvSpPr>
        <p:spPr>
          <a:xfrm>
            <a:off x="7833360" y="2943357"/>
            <a:ext cx="3246120" cy="603504"/>
          </a:xfrm>
          <a:prstGeom prst="roundRect">
            <a:avLst/>
          </a:prstGeom>
          <a:solidFill>
            <a:srgbClr val="FCE1E1"/>
          </a:solidFill>
          <a:ln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69">
            <a:extLst>
              <a:ext uri="{FF2B5EF4-FFF2-40B4-BE49-F238E27FC236}">
                <a16:creationId xmlns:a16="http://schemas.microsoft.com/office/drawing/2014/main" id="{F70946AB-CFA6-1B5A-F375-CA36BD09D665}"/>
              </a:ext>
            </a:extLst>
          </p:cNvPr>
          <p:cNvSpPr txBox="1"/>
          <p:nvPr/>
        </p:nvSpPr>
        <p:spPr>
          <a:xfrm>
            <a:off x="7970520" y="2934434"/>
            <a:ext cx="297180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636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 1/2  •  Property 3/3  •  Identification 3/3</a:t>
            </a:r>
          </a:p>
        </p:txBody>
      </p:sp>
      <p:sp>
        <p:nvSpPr>
          <p:cNvPr id="21" name="TextBox 70">
            <a:extLst>
              <a:ext uri="{FF2B5EF4-FFF2-40B4-BE49-F238E27FC236}">
                <a16:creationId xmlns:a16="http://schemas.microsoft.com/office/drawing/2014/main" id="{672B8A8B-7908-5261-5567-DEAE64E8B513}"/>
              </a:ext>
            </a:extLst>
          </p:cNvPr>
          <p:cNvSpPr txBox="1"/>
          <p:nvPr/>
        </p:nvSpPr>
        <p:spPr>
          <a:xfrm>
            <a:off x="1447708" y="3147423"/>
            <a:ext cx="423690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 AT THE HIGHEST TECHNICAL SCORE</a:t>
            </a:r>
          </a:p>
        </p:txBody>
      </p:sp>
      <p:cxnSp>
        <p:nvCxnSpPr>
          <p:cNvPr id="22" name="Connector 71">
            <a:extLst>
              <a:ext uri="{FF2B5EF4-FFF2-40B4-BE49-F238E27FC236}">
                <a16:creationId xmlns:a16="http://schemas.microsoft.com/office/drawing/2014/main" id="{65109472-9F34-DF35-9E51-09D9A20C85E2}"/>
              </a:ext>
            </a:extLst>
          </p:cNvPr>
          <p:cNvCxnSpPr/>
          <p:nvPr/>
        </p:nvCxnSpPr>
        <p:spPr>
          <a:xfrm>
            <a:off x="3566160" y="3444060"/>
            <a:ext cx="0" cy="274320"/>
          </a:xfrm>
          <a:prstGeom prst="line">
            <a:avLst/>
          </a:prstGeom>
          <a:ln w="31750">
            <a:solidFill>
              <a:srgbClr val="FF9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72">
            <a:extLst>
              <a:ext uri="{FF2B5EF4-FFF2-40B4-BE49-F238E27FC236}">
                <a16:creationId xmlns:a16="http://schemas.microsoft.com/office/drawing/2014/main" id="{15F03A67-C63A-E57E-EF48-18A79B0F25B0}"/>
              </a:ext>
            </a:extLst>
          </p:cNvPr>
          <p:cNvSpPr/>
          <p:nvPr/>
        </p:nvSpPr>
        <p:spPr>
          <a:xfrm>
            <a:off x="658368" y="3718380"/>
            <a:ext cx="5833872" cy="987552"/>
          </a:xfrm>
          <a:prstGeom prst="roundRect">
            <a:avLst/>
          </a:prstGeom>
          <a:solidFill>
            <a:srgbClr val="FCE5CD"/>
          </a:solidFill>
          <a:ln>
            <a:solidFill>
              <a:srgbClr val="FF9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73">
            <a:extLst>
              <a:ext uri="{FF2B5EF4-FFF2-40B4-BE49-F238E27FC236}">
                <a16:creationId xmlns:a16="http://schemas.microsoft.com/office/drawing/2014/main" id="{4A84F139-AE89-AAD5-289E-2CA8212204B5}"/>
              </a:ext>
            </a:extLst>
          </p:cNvPr>
          <p:cNvSpPr txBox="1"/>
          <p:nvPr/>
        </p:nvSpPr>
        <p:spPr>
          <a:xfrm>
            <a:off x="841248" y="3768558"/>
            <a:ext cx="546811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REVIEWER ASSESSMENT — tie-break only</a:t>
            </a:r>
          </a:p>
        </p:txBody>
      </p:sp>
      <p:sp>
        <p:nvSpPr>
          <p:cNvPr id="25" name="TextBox 74">
            <a:extLst>
              <a:ext uri="{FF2B5EF4-FFF2-40B4-BE49-F238E27FC236}">
                <a16:creationId xmlns:a16="http://schemas.microsoft.com/office/drawing/2014/main" id="{C6E8B3A4-20B6-8CD1-53D0-CB6C313BC95C}"/>
              </a:ext>
            </a:extLst>
          </p:cNvPr>
          <p:cNvSpPr txBox="1"/>
          <p:nvPr/>
        </p:nvSpPr>
        <p:spPr>
          <a:xfrm>
            <a:off x="672084" y="4083315"/>
            <a:ext cx="58064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fr-FR" sz="160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600" b="0" dirty="0" err="1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mphasizes</a:t>
            </a:r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practical use of IR to assess moisture damage and its comparison with classical susceptibility tests.</a:t>
            </a:r>
          </a:p>
        </p:txBody>
      </p:sp>
      <p:sp>
        <p:nvSpPr>
          <p:cNvPr id="26" name="Rounded Rectangle 75">
            <a:extLst>
              <a:ext uri="{FF2B5EF4-FFF2-40B4-BE49-F238E27FC236}">
                <a16:creationId xmlns:a16="http://schemas.microsoft.com/office/drawing/2014/main" id="{254A2316-60C2-8738-65CC-58EBFF713A51}"/>
              </a:ext>
            </a:extLst>
          </p:cNvPr>
          <p:cNvSpPr/>
          <p:nvPr/>
        </p:nvSpPr>
        <p:spPr>
          <a:xfrm>
            <a:off x="6812280" y="3647758"/>
            <a:ext cx="4069080" cy="1058174"/>
          </a:xfrm>
          <a:prstGeom prst="roundRect">
            <a:avLst/>
          </a:prstGeom>
          <a:solidFill>
            <a:srgbClr val="EBE4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DDB8B860-1BC9-EE7C-0391-370859F91C5D}"/>
              </a:ext>
            </a:extLst>
          </p:cNvPr>
          <p:cNvSpPr txBox="1"/>
          <p:nvPr/>
        </p:nvSpPr>
        <p:spPr>
          <a:xfrm>
            <a:off x="6995160" y="3657723"/>
            <a:ext cx="3703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RHEOLOGICAL MODELLING = 0/2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77048570-3777-F4E4-C2AC-0C5A4E3E03E9}"/>
              </a:ext>
            </a:extLst>
          </p:cNvPr>
          <p:cNvSpPr txBox="1"/>
          <p:nvPr/>
        </p:nvSpPr>
        <p:spPr>
          <a:xfrm>
            <a:off x="7079673" y="3933321"/>
            <a:ext cx="356616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reported</a:t>
            </a:r>
            <a:endParaRPr lang="fr-FR" sz="1600" b="0" dirty="0">
              <a:solidFill>
                <a:srgbClr val="2330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sz="160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1600" b="0" dirty="0" err="1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upporting</a:t>
            </a:r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evidence only; not used in the technical score.</a:t>
            </a:r>
          </a:p>
        </p:txBody>
      </p:sp>
      <p:sp>
        <p:nvSpPr>
          <p:cNvPr id="29" name="Rounded Rectangle 78">
            <a:extLst>
              <a:ext uri="{FF2B5EF4-FFF2-40B4-BE49-F238E27FC236}">
                <a16:creationId xmlns:a16="http://schemas.microsoft.com/office/drawing/2014/main" id="{8E6CE603-9BEB-9564-E259-0855E6BAED7F}"/>
              </a:ext>
            </a:extLst>
          </p:cNvPr>
          <p:cNvSpPr/>
          <p:nvPr/>
        </p:nvSpPr>
        <p:spPr>
          <a:xfrm>
            <a:off x="658368" y="4907100"/>
            <a:ext cx="10222992" cy="713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9765E17A-B17D-41BA-1F7B-ECB9C6167871}"/>
              </a:ext>
            </a:extLst>
          </p:cNvPr>
          <p:cNvSpPr txBox="1"/>
          <p:nvPr/>
        </p:nvSpPr>
        <p:spPr>
          <a:xfrm>
            <a:off x="868680" y="4957279"/>
            <a:ext cx="9784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PRIMARY</a:t>
            </a:r>
            <a:r>
              <a:rPr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sz="1600" b="1" dirty="0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r>
              <a:rPr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|     </a:t>
            </a:r>
            <a:r>
              <a:rPr sz="1600" b="1" dirty="0">
                <a:latin typeface="Arial" panose="020B0604020202020204" pitchFamily="34" charset="0"/>
                <a:cs typeface="Arial" panose="020B0604020202020204" pitchFamily="34" charset="0"/>
              </a:rPr>
              <a:t>SECONDARY</a:t>
            </a:r>
            <a:r>
              <a:rPr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sz="1600" b="1" dirty="0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r>
              <a:rPr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r>
              <a:rPr sz="1600" b="1" dirty="0">
                <a:solidFill>
                  <a:srgbClr val="FF9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b="1" dirty="0">
                <a:solidFill>
                  <a:srgbClr val="70AD4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</a:p>
        </p:txBody>
      </p:sp>
      <p:sp>
        <p:nvSpPr>
          <p:cNvPr id="31" name="TextBox 80">
            <a:extLst>
              <a:ext uri="{FF2B5EF4-FFF2-40B4-BE49-F238E27FC236}">
                <a16:creationId xmlns:a16="http://schemas.microsoft.com/office/drawing/2014/main" id="{779EB80B-F2AC-6FB9-D83A-A56F0F69A62A}"/>
              </a:ext>
            </a:extLst>
          </p:cNvPr>
          <p:cNvSpPr txBox="1"/>
          <p:nvPr/>
        </p:nvSpPr>
        <p:spPr>
          <a:xfrm>
            <a:off x="804256" y="5276862"/>
            <a:ext cx="97840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Confidence = Medium  •  Tie-break Used = Yes</a:t>
            </a:r>
          </a:p>
        </p:txBody>
      </p:sp>
      <p:sp>
        <p:nvSpPr>
          <p:cNvPr id="32" name="TextBox 81">
            <a:extLst>
              <a:ext uri="{FF2B5EF4-FFF2-40B4-BE49-F238E27FC236}">
                <a16:creationId xmlns:a16="http://schemas.microsoft.com/office/drawing/2014/main" id="{655EB974-A430-9E3E-B2EA-1CC43D64493B}"/>
              </a:ext>
            </a:extLst>
          </p:cNvPr>
          <p:cNvSpPr txBox="1"/>
          <p:nvPr/>
        </p:nvSpPr>
        <p:spPr>
          <a:xfrm>
            <a:off x="658368" y="5675083"/>
            <a:ext cx="10241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RATIONALE</a:t>
            </a:r>
            <a:r>
              <a:rPr lang="fr-FR" sz="1600" b="1" dirty="0">
                <a:solidFill>
                  <a:srgbClr val="0000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600" b="1" dirty="0">
              <a:solidFill>
                <a:srgbClr val="0000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82">
            <a:extLst>
              <a:ext uri="{FF2B5EF4-FFF2-40B4-BE49-F238E27FC236}">
                <a16:creationId xmlns:a16="http://schemas.microsoft.com/office/drawing/2014/main" id="{7B847720-37F2-E08B-2415-DA570AF42B00}"/>
              </a:ext>
            </a:extLst>
          </p:cNvPr>
          <p:cNvSpPr txBox="1"/>
          <p:nvPr/>
        </p:nvSpPr>
        <p:spPr>
          <a:xfrm>
            <a:off x="749808" y="5996230"/>
            <a:ext cx="102412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2330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Application=3/3; Methodology=3/3; Data Analysis=3/3 (Signal Processing=1/2; Property Complexity=3/3; Identification Method=3/3); Rheology=0/2. Reviewer Support=1/2 (descriptive only; not used in technical scoring). Primary=Application Focus; Secondary=Testing Methodology Focus.</a:t>
            </a:r>
          </a:p>
        </p:txBody>
      </p:sp>
    </p:spTree>
    <p:extLst>
      <p:ext uri="{BB962C8B-B14F-4D97-AF65-F5344CB8AC3E}">
        <p14:creationId xmlns:p14="http://schemas.microsoft.com/office/powerpoint/2010/main" val="34676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4323</TotalTime>
  <Words>538</Words>
  <Application>Microsoft Office PowerPoint</Application>
  <PresentationFormat>Widescreen</PresentationFormat>
  <Paragraphs>98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 Neue</vt:lpstr>
      <vt:lpstr>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Dave, Eshan</dc:creator>
  <cp:lastModifiedBy>Karol Lemos</cp:lastModifiedBy>
  <cp:revision>100</cp:revision>
  <dcterms:created xsi:type="dcterms:W3CDTF">2020-09-22T20:22:54Z</dcterms:created>
  <dcterms:modified xsi:type="dcterms:W3CDTF">2026-08-16T19:14:01Z</dcterms:modified>
</cp:coreProperties>
</file>